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79" r:id="rId4"/>
    <p:sldId id="261" r:id="rId5"/>
    <p:sldId id="262" r:id="rId6"/>
    <p:sldId id="258" r:id="rId7"/>
    <p:sldId id="259" r:id="rId8"/>
    <p:sldId id="288" r:id="rId9"/>
    <p:sldId id="260" r:id="rId10"/>
    <p:sldId id="271" r:id="rId11"/>
    <p:sldId id="272" r:id="rId12"/>
    <p:sldId id="273" r:id="rId13"/>
    <p:sldId id="280" r:id="rId14"/>
    <p:sldId id="268" r:id="rId15"/>
    <p:sldId id="275" r:id="rId16"/>
    <p:sldId id="270" r:id="rId17"/>
    <p:sldId id="264" r:id="rId18"/>
    <p:sldId id="274" r:id="rId19"/>
    <p:sldId id="265" r:id="rId20"/>
    <p:sldId id="266" r:id="rId21"/>
    <p:sldId id="267" r:id="rId22"/>
    <p:sldId id="269" r:id="rId23"/>
    <p:sldId id="281" r:id="rId24"/>
    <p:sldId id="276" r:id="rId25"/>
    <p:sldId id="282" r:id="rId26"/>
    <p:sldId id="283" r:id="rId27"/>
    <p:sldId id="287" r:id="rId28"/>
    <p:sldId id="284" r:id="rId29"/>
    <p:sldId id="290" r:id="rId30"/>
    <p:sldId id="286" r:id="rId31"/>
    <p:sldId id="285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97697-E175-4649-9B8F-92E7DE28A2C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85D28-232C-4459-97B9-36AFD80E2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8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</a:t>
            </a:r>
            <a:r>
              <a:rPr lang="en-US" dirty="0" err="1"/>
              <a:t>wkipedia</a:t>
            </a:r>
            <a:r>
              <a:rPr lang="en-US" dirty="0"/>
              <a:t> </a:t>
            </a:r>
            <a:r>
              <a:rPr lang="bg-BG" dirty="0"/>
              <a:t>за лявата снимка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4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Ot Wikipedia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01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Обясни целта</a:t>
            </a:r>
            <a:r>
              <a:rPr lang="en-US" dirty="0"/>
              <a:t> </a:t>
            </a:r>
            <a:r>
              <a:rPr lang="bg-BG" dirty="0"/>
              <a:t>на дипломната работа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91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Започни с </a:t>
            </a:r>
            <a:r>
              <a:rPr lang="en-US" dirty="0"/>
              <a:t>P </a:t>
            </a:r>
            <a:r>
              <a:rPr lang="bg-BG" dirty="0"/>
              <a:t>и </a:t>
            </a:r>
            <a:r>
              <a:rPr lang="en-US" dirty="0"/>
              <a:t>S </a:t>
            </a:r>
            <a:r>
              <a:rPr lang="bg-BG" dirty="0"/>
              <a:t>вълни</a:t>
            </a:r>
          </a:p>
          <a:p>
            <a:r>
              <a:rPr lang="bg-BG" dirty="0"/>
              <a:t>Модули на еластичност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8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Намерих грешка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56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Разлики има защото сме 2</a:t>
            </a:r>
            <a:r>
              <a:rPr lang="en-US" dirty="0"/>
              <a:t>D </a:t>
            </a:r>
            <a:r>
              <a:rPr lang="bg-BG" dirty="0"/>
              <a:t>и защото областта не е същата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85D28-232C-4459-97B9-36AFD80E20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1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EE64-E2D0-C3BC-91BE-EE522E74B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20877-CDCB-5D19-C18B-5CC79FFE6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B78A7-54EC-A614-4CE7-7FE0F6CB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06E9E-4C43-372C-A92E-014CD872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036BC-0D68-D86B-7AEB-1DD07BCD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4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6492-C053-8028-EB9C-B83952C4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5C37-02E1-85F2-2160-CBDFC7282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B335-4ABB-3B46-B7FC-5DF589AE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B7DB3-5FA6-5A31-3262-21A7035E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2FAF4-5685-1248-639D-7E8930B9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6117-DC70-C9A2-C47B-2D666E16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6F2C8-50A5-C6DF-E011-F847B7A2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CCEF-FDEB-AB56-4C4C-0DC3B19C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49195-4AF8-3FE2-2611-4E85A50A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45686-298D-B97A-028B-DA3DFD8E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1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C534-D2B4-7C46-A25A-CB96290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DCC3-04A6-9ED9-40D6-B06898A1E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84C78-4661-AF8A-44BA-922C659F6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21895-4E4E-53FE-2F47-D491B088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592C2-97FA-0234-1337-F1786A37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13FB2-2BA5-79CB-0715-538D9D2D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1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791D-D719-E88E-05F6-7E6FB070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07262-7A2A-DAE4-B142-E88F92518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14403-4CE4-F092-4045-6F95B1796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723D3-C308-086F-EEE1-C1A81ACFF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F8BC5-0EA3-4BBD-3AE2-1072CABE9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8E90A-2756-0EED-4344-3CCBEDED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E1A63-5C10-7DEE-C1CA-6FE6738E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09E33-0F38-BDEC-CBBD-A4B4EB92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3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0A65-B420-EEE1-FC71-14D307D5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732E6-CAAC-7E42-06E2-3CA83881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A4B29-6FC4-54C0-2F5A-4806179E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807ED-450F-FAE7-EF4C-A31A6D4C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5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2E1FF-A2F8-FB83-355E-BFEBE477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17F21-FF86-E178-07A6-97235EEE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983FD-4311-698E-5F11-4B683ADE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5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D73C-F395-DEB5-49B0-F0152F16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C6B9-2D98-2676-8C28-9E513E68D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AB57D-1883-CDBB-2D25-D972C77A9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3453A-74F4-2446-201D-E531E3D0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19431-565B-46E5-3CBD-2B52C951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5B72F-18EA-DAF7-09DE-FD98F880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4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ABCE-BC41-525C-D811-F9209B73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15840-9B5D-3525-0604-3022A79A8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62A32-5C42-5C0F-E19A-2488492E7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921E-8A9A-8E19-79B4-EDC54D07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F0B30-D423-C71E-1DC5-52A9ACF2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4ACC1-F0E3-60E5-2C7F-AD4C00E4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6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0111-37E5-D7E2-6FEE-C86D0EB6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B88BA-F3FB-0E22-B4DF-221F5D7E9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AEF4-9613-EB3F-CC21-8C7B1B76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84A7F-B75D-A674-AD24-9DE611CB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D85D0-3327-0216-FE80-63C45E1E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4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C5F9-2E9A-5329-AC5A-48D4033BD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D0FEC-62BB-7EC1-E535-64C773870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24D68-A00D-00F9-ECA7-CF2657AE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A213-F254-7E74-B9D4-E46DAA58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50AFA-5800-8FF4-58E7-45017DAE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0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98E6D-D5E5-0431-C60C-70678BF18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2BE7E-F573-DF06-01EE-163EC070E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ACA0E-1F88-1841-B115-3E9EE7169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4D50C-65A2-45EA-A455-0DAA75737A0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AF00D-7560-E657-80D8-33DCE138E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0019-4ABD-F982-2C75-43156532B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0EE95-5839-4E15-86F2-7CA7947F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1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FBDD5B1C-EB28-2CDD-B890-240314B79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853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4F85ED-7DF4-824B-A8BC-0BD3A83D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481"/>
            <a:ext cx="9144000" cy="2900518"/>
          </a:xfrm>
        </p:spPr>
        <p:txBody>
          <a:bodyPr>
            <a:normAutofit/>
          </a:bodyPr>
          <a:lstStyle/>
          <a:p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Числени симулации на сеизмични вълни в ледници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10E21-4212-425F-7FCC-858A42E2C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0924"/>
            <a:ext cx="9144000" cy="1189836"/>
          </a:xfrm>
        </p:spPr>
        <p:txBody>
          <a:bodyPr>
            <a:normAutofit/>
          </a:bodyPr>
          <a:lstStyle/>
          <a:p>
            <a:r>
              <a:rPr lang="bg-BG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Факултет по математика и информатика,</a:t>
            </a:r>
          </a:p>
          <a:p>
            <a:r>
              <a:rPr lang="bg-BG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Софийски университет „Св. Климент Охридски“</a:t>
            </a:r>
          </a:p>
          <a:p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МП „Изчислителна математика и математическо моделиране“</a:t>
            </a:r>
            <a:endParaRPr lang="en-US" sz="17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238E5-098A-23EB-9426-19F0003111D6}"/>
              </a:ext>
            </a:extLst>
          </p:cNvPr>
          <p:cNvSpPr txBox="1"/>
          <p:nvPr/>
        </p:nvSpPr>
        <p:spPr>
          <a:xfrm>
            <a:off x="3188208" y="3428999"/>
            <a:ext cx="5815584" cy="105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00">
                <a:solidFill>
                  <a:srgbClr val="FFFFFF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на дипломна работа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Петър Тодоров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MI3300039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Научен ръководител: гл. ас. д-р Гергана Георгиева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8C2C4-92A9-219C-88F6-A0591D639167}"/>
              </a:ext>
            </a:extLst>
          </p:cNvPr>
          <p:cNvSpPr txBox="1"/>
          <p:nvPr/>
        </p:nvSpPr>
        <p:spPr>
          <a:xfrm>
            <a:off x="5113020" y="6080760"/>
            <a:ext cx="1965960" cy="329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00">
                <a:solidFill>
                  <a:srgbClr val="FFFFFF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26.11.2025 г.</a:t>
            </a:r>
          </a:p>
        </p:txBody>
      </p:sp>
    </p:spTree>
    <p:extLst>
      <p:ext uri="{BB962C8B-B14F-4D97-AF65-F5344CB8AC3E}">
        <p14:creationId xmlns:p14="http://schemas.microsoft.com/office/powerpoint/2010/main" val="418365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08A20-50C1-578D-F866-C8ECCFA8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Българска</a:t>
            </a:r>
            <a:r>
              <a:rPr lang="bg-BG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lang="en-US" sz="5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антарктическа</a:t>
            </a:r>
            <a:r>
              <a:rPr lang="en-US" sz="5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</a:t>
            </a:r>
            <a:endParaRPr lang="en-US" sz="5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3F30B6-14E5-D637-3BA1-185ACA62A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637" y="2367885"/>
            <a:ext cx="5739168" cy="393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rocky beach with snow and boats in the water">
            <a:extLst>
              <a:ext uri="{FF2B5EF4-FFF2-40B4-BE49-F238E27FC236}">
                <a16:creationId xmlns:a16="http://schemas.microsoft.com/office/drawing/2014/main" id="{E0836969-6B29-3A62-F7A2-5A8D67C19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0" y="2367885"/>
            <a:ext cx="5900335" cy="393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2197C9-531E-F579-BD2B-0C03E780D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2801" y="1399032"/>
            <a:ext cx="6227654" cy="415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lacier next to the water&#10;&#10;AI-generated content may be incorrect.">
            <a:extLst>
              <a:ext uri="{FF2B5EF4-FFF2-40B4-BE49-F238E27FC236}">
                <a16:creationId xmlns:a16="http://schemas.microsoft.com/office/drawing/2014/main" id="{F92A5180-2F78-39F6-0002-FA7F9857B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5" y="1399032"/>
            <a:ext cx="5542611" cy="41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934504-B73A-B19D-F436-60455CA88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2" y="430021"/>
            <a:ext cx="6472445" cy="4189019"/>
          </a:xfrm>
          <a:prstGeom prst="rect">
            <a:avLst/>
          </a:prstGeom>
        </p:spPr>
      </p:pic>
      <p:pic>
        <p:nvPicPr>
          <p:cNvPr id="1032" name="Picture 8" descr="Rumbles on the Red Planet">
            <a:extLst>
              <a:ext uri="{FF2B5EF4-FFF2-40B4-BE49-F238E27FC236}">
                <a16:creationId xmlns:a16="http://schemas.microsoft.com/office/drawing/2014/main" id="{42BE9A81-87EF-79FA-A535-2DFFA5BD0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450" y="4364025"/>
            <a:ext cx="7838204" cy="24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lacier next to the water&#10;&#10;AI-generated content may be incorrect.">
            <a:extLst>
              <a:ext uri="{FF2B5EF4-FFF2-40B4-BE49-F238E27FC236}">
                <a16:creationId xmlns:a16="http://schemas.microsoft.com/office/drawing/2014/main" id="{0219567F-2B33-172A-DD5C-82037EF28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793" y="430021"/>
            <a:ext cx="5057775" cy="37933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40AF0F-DD90-8D37-6184-458091C8CC7B}"/>
              </a:ext>
            </a:extLst>
          </p:cNvPr>
          <p:cNvSpPr txBox="1"/>
          <p:nvPr/>
        </p:nvSpPr>
        <p:spPr>
          <a:xfrm>
            <a:off x="226432" y="88276"/>
            <a:ext cx="326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Сеизмограма от ледотресение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8D6A0-7686-6C86-5C17-EB586DE2C746}"/>
              </a:ext>
            </a:extLst>
          </p:cNvPr>
          <p:cNvSpPr txBox="1"/>
          <p:nvPr/>
        </p:nvSpPr>
        <p:spPr>
          <a:xfrm>
            <a:off x="1197399" y="5426346"/>
            <a:ext cx="326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Сеизмограма от земетресение</a:t>
            </a:r>
          </a:p>
        </p:txBody>
      </p:sp>
    </p:spTree>
    <p:extLst>
      <p:ext uri="{BB962C8B-B14F-4D97-AF65-F5344CB8AC3E}">
        <p14:creationId xmlns:p14="http://schemas.microsoft.com/office/powerpoint/2010/main" val="278399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nowy mountain with a body of water">
            <a:extLst>
              <a:ext uri="{FF2B5EF4-FFF2-40B4-BE49-F238E27FC236}">
                <a16:creationId xmlns:a16="http://schemas.microsoft.com/office/drawing/2014/main" id="{795330D6-DB5A-CC76-24D7-30403B3C3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8" r="5223" b="-2"/>
          <a:stretch>
            <a:fillRect/>
          </a:stretch>
        </p:blipFill>
        <p:spPr>
          <a:xfrm>
            <a:off x="20" y="-2"/>
            <a:ext cx="7998206" cy="6858001"/>
          </a:xfrm>
          <a:prstGeom prst="rect">
            <a:avLst/>
          </a:prstGeom>
        </p:spPr>
      </p:pic>
      <p:pic>
        <p:nvPicPr>
          <p:cNvPr id="2050" name="Picture 2" descr="How Glaciers Move (U.S. National Park Service)">
            <a:extLst>
              <a:ext uri="{FF2B5EF4-FFF2-40B4-BE49-F238E27FC236}">
                <a16:creationId xmlns:a16="http://schemas.microsoft.com/office/drawing/2014/main" id="{60EEAF37-2499-561D-1FC9-D3BA96A00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7" r="27789" b="2"/>
          <a:stretch>
            <a:fillRect/>
          </a:stretch>
        </p:blipFill>
        <p:spPr bwMode="auto">
          <a:xfrm>
            <a:off x="7998225" y="-1"/>
            <a:ext cx="419377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53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4C2C-1011-D6DC-F958-86FBE51B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7" y="0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Уравнения на еластодинамиката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955CA-F546-076C-DD65-46FA1535B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8" y="1238830"/>
            <a:ext cx="6249009" cy="3895634"/>
          </a:xfrm>
          <a:prstGeom prst="rect">
            <a:avLst/>
          </a:prstGeom>
        </p:spPr>
      </p:pic>
      <p:pic>
        <p:nvPicPr>
          <p:cNvPr id="1026" name="Picture 2" descr="Seismic waves — Science Learning Hub">
            <a:extLst>
              <a:ext uri="{FF2B5EF4-FFF2-40B4-BE49-F238E27FC236}">
                <a16:creationId xmlns:a16="http://schemas.microsoft.com/office/drawing/2014/main" id="{7E0E81D5-A13F-9EF0-3527-1DA93B7D90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1" r="7603" b="46717"/>
          <a:stretch>
            <a:fillRect/>
          </a:stretch>
        </p:blipFill>
        <p:spPr bwMode="auto">
          <a:xfrm>
            <a:off x="6796306" y="1197325"/>
            <a:ext cx="5183908" cy="468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14DF8-FD55-0EFB-AA05-1DE355F09630}"/>
              </a:ext>
            </a:extLst>
          </p:cNvPr>
          <p:cNvSpPr txBox="1"/>
          <p:nvPr/>
        </p:nvSpPr>
        <p:spPr>
          <a:xfrm>
            <a:off x="609601" y="5449964"/>
            <a:ext cx="2955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плътност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тензор на напреженията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30E9B-011E-2780-89CC-9E91FA497AFA}"/>
              </a:ext>
            </a:extLst>
          </p:cNvPr>
          <p:cNvSpPr txBox="1"/>
          <p:nvPr/>
        </p:nvSpPr>
        <p:spPr>
          <a:xfrm>
            <a:off x="4064000" y="5449964"/>
            <a:ext cx="3269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източник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 на еластичност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тензор на деформация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3774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3EB1-27CD-100F-D0EF-79BBCBB2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181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на уравненията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91768A-6F9F-7465-104E-C2342E5D8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154" y="3942486"/>
            <a:ext cx="6939622" cy="11851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B88AFF-48E4-4314-C489-07F462774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0174" y="1962398"/>
            <a:ext cx="2744852" cy="132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A3C9B4-77B2-B2A5-F7FE-44C8B24F1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964" y="5337006"/>
            <a:ext cx="6716062" cy="857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4A9C40-DF7A-F89E-2DDC-D1310C3A8444}"/>
              </a:ext>
            </a:extLst>
          </p:cNvPr>
          <p:cNvSpPr txBox="1"/>
          <p:nvPr/>
        </p:nvSpPr>
        <p:spPr>
          <a:xfrm>
            <a:off x="7525328" y="1576907"/>
            <a:ext cx="4666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на пространствените променливи с МКЕ: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E3E91-856A-F3F4-3552-2BADD84C29D7}"/>
              </a:ext>
            </a:extLst>
          </p:cNvPr>
          <p:cNvSpPr txBox="1"/>
          <p:nvPr/>
        </p:nvSpPr>
        <p:spPr>
          <a:xfrm>
            <a:off x="5078964" y="3653128"/>
            <a:ext cx="555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на времето с централна разлика: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A4CEB-6604-FB92-A71D-F60646DC80A7}"/>
              </a:ext>
            </a:extLst>
          </p:cNvPr>
          <p:cNvSpPr txBox="1"/>
          <p:nvPr/>
        </p:nvSpPr>
        <p:spPr>
          <a:xfrm>
            <a:off x="180098" y="1690688"/>
            <a:ext cx="5276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на пространството - метод на крайните елементи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(МКЕ)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линейни базисни функции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по времето – централна разлика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C9A17-A860-B517-A57D-2F2813F02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55" y="3077213"/>
            <a:ext cx="3109128" cy="311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02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086B079-38D9-FFDB-DB89-76C439ACF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30" r="23617" b="61033"/>
          <a:stretch>
            <a:fillRect/>
          </a:stretch>
        </p:blipFill>
        <p:spPr>
          <a:xfrm>
            <a:off x="449199" y="2571778"/>
            <a:ext cx="2809220" cy="1260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0D4285-30D9-98FE-9B5C-B89813FC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Област, в която решаваме задачата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66C3B4-041E-4BA6-115C-028FA3F7941A}"/>
              </a:ext>
            </a:extLst>
          </p:cNvPr>
          <p:cNvSpPr txBox="1"/>
          <p:nvPr/>
        </p:nvSpPr>
        <p:spPr>
          <a:xfrm>
            <a:off x="345504" y="1848832"/>
            <a:ext cx="328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Физичен модел за слой над полупространство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bg-BG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5DDEDA-2D6F-5583-BE46-38C1CFB1AB78}"/>
              </a:ext>
            </a:extLst>
          </p:cNvPr>
          <p:cNvGrpSpPr/>
          <p:nvPr/>
        </p:nvGrpSpPr>
        <p:grpSpPr>
          <a:xfrm>
            <a:off x="449199" y="3782358"/>
            <a:ext cx="3859488" cy="2647140"/>
            <a:chOff x="667512" y="3346704"/>
            <a:chExt cx="3859488" cy="26471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391A39C-2708-048E-6AB6-6160A999B34C}"/>
                </a:ext>
              </a:extLst>
            </p:cNvPr>
            <p:cNvSpPr/>
            <p:nvPr/>
          </p:nvSpPr>
          <p:spPr>
            <a:xfrm>
              <a:off x="667512" y="3643836"/>
              <a:ext cx="3384000" cy="57607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2DFA1F-F78D-F598-0BCB-68EE1A90FDD0}"/>
                </a:ext>
              </a:extLst>
            </p:cNvPr>
            <p:cNvSpPr/>
            <p:nvPr/>
          </p:nvSpPr>
          <p:spPr>
            <a:xfrm>
              <a:off x="667512" y="4219908"/>
              <a:ext cx="3384000" cy="17739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D35871-3160-106E-3F87-FFC7029AB3B4}"/>
                </a:ext>
              </a:extLst>
            </p:cNvPr>
            <p:cNvSpPr txBox="1"/>
            <p:nvPr/>
          </p:nvSpPr>
          <p:spPr>
            <a:xfrm>
              <a:off x="994410" y="3716036"/>
              <a:ext cx="5463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bg-B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8AF350-084A-97FF-0AE4-D47BE64BED4B}"/>
                </a:ext>
              </a:extLst>
            </p:cNvPr>
            <p:cNvSpPr txBox="1"/>
            <p:nvPr/>
          </p:nvSpPr>
          <p:spPr>
            <a:xfrm>
              <a:off x="950976" y="5106876"/>
              <a:ext cx="491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bg-B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5B32D55-9A3D-E5E4-2B62-FCE459999C87}"/>
                </a:ext>
              </a:extLst>
            </p:cNvPr>
            <p:cNvCxnSpPr/>
            <p:nvPr/>
          </p:nvCxnSpPr>
          <p:spPr>
            <a:xfrm>
              <a:off x="667512" y="4219908"/>
              <a:ext cx="3384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0C2ACE-2263-A8C5-DD11-A45972833FA7}"/>
                </a:ext>
              </a:extLst>
            </p:cNvPr>
            <p:cNvSpPr txBox="1"/>
            <p:nvPr/>
          </p:nvSpPr>
          <p:spPr>
            <a:xfrm>
              <a:off x="4051512" y="4035243"/>
              <a:ext cx="475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Г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bg-BG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A5938B8-C757-2CC2-844F-C9570C9660BA}"/>
                </a:ext>
              </a:extLst>
            </p:cNvPr>
            <p:cNvCxnSpPr/>
            <p:nvPr/>
          </p:nvCxnSpPr>
          <p:spPr>
            <a:xfrm>
              <a:off x="667512" y="3643836"/>
              <a:ext cx="3384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0F3BE9-BB99-BBEB-55AC-4C19BBB51B5A}"/>
                </a:ext>
              </a:extLst>
            </p:cNvPr>
            <p:cNvSpPr txBox="1"/>
            <p:nvPr/>
          </p:nvSpPr>
          <p:spPr>
            <a:xfrm>
              <a:off x="3959353" y="3346704"/>
              <a:ext cx="475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Г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bg-BG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32C3358-E1CE-E78B-462B-51B79C79535C}"/>
              </a:ext>
            </a:extLst>
          </p:cNvPr>
          <p:cNvSpPr txBox="1"/>
          <p:nvPr/>
        </p:nvSpPr>
        <p:spPr>
          <a:xfrm>
            <a:off x="6519312" y="2480628"/>
            <a:ext cx="3639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След дискретизациите решаваме числено задачата само в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променливи параметри</a:t>
            </a:r>
            <a:endParaRPr lang="bg-BG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5FD89E-A3BB-25B4-2DB3-C25D561AE8BC}"/>
              </a:ext>
            </a:extLst>
          </p:cNvPr>
          <p:cNvSpPr/>
          <p:nvPr/>
        </p:nvSpPr>
        <p:spPr>
          <a:xfrm>
            <a:off x="6510168" y="4079489"/>
            <a:ext cx="3384000" cy="2350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906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5573-38C1-07A5-BB6C-AF1266D1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94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FEM2D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72C71-9829-E41D-4B5A-C446F623C525}"/>
              </a:ext>
            </a:extLst>
          </p:cNvPr>
          <p:cNvSpPr txBox="1"/>
          <p:nvPr/>
        </p:nvSpPr>
        <p:spPr>
          <a:xfrm>
            <a:off x="182880" y="1454508"/>
            <a:ext cx="5404104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Решава уравнението за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Приема триангулацията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Конфигурационен файл: приема местоположение на източници, сеизмографи, пукнатини и др.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Асемблира глобалните матрици на масата и</a:t>
            </a:r>
            <a:b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коравината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 режима на работа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Решава системата линейни уравнения на всяка стъпка от времето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резултатите от библиотека за крайни елементи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0D48E-59B4-FA0C-7DD4-B5F728DFF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1703854"/>
            <a:ext cx="6167418" cy="411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0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F58F-FA0F-BC77-B310-D1850F5A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Използвани технологии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F40BD6-2FD5-F1AD-6CEF-1B52BF60C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138408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949952">
                  <a:extLst>
                    <a:ext uri="{9D8B030D-6E8A-4147-A177-3AD203B41FA5}">
                      <a16:colId xmlns:a16="http://schemas.microsoft.com/office/drawing/2014/main" val="3432656770"/>
                    </a:ext>
                  </a:extLst>
                </a:gridCol>
                <a:gridCol w="5565648">
                  <a:extLst>
                    <a:ext uri="{9D8B030D-6E8A-4147-A177-3AD203B41FA5}">
                      <a16:colId xmlns:a16="http://schemas.microsoft.com/office/drawing/2014/main" val="795527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Триангулиране на областта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Wolfram Mathematica</a:t>
                      </a:r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91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Основен език за програмиране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68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 за линейна алгебра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Eigen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45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 за крайни елементи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MFEM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1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Пресмятане на аналитично решение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(с квадратурни формули)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Раздробяване на мрежата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949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06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8999-29B0-E4B4-23E8-AA676122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96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FEM2D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конфигурационен файл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BF7B351-B846-2691-25CD-E99D6304F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290796"/>
              </p:ext>
            </p:extLst>
          </p:nvPr>
        </p:nvGraphicFramePr>
        <p:xfrm>
          <a:off x="54864" y="1295273"/>
          <a:ext cx="12067032" cy="5445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9736">
                  <a:extLst>
                    <a:ext uri="{9D8B030D-6E8A-4147-A177-3AD203B41FA5}">
                      <a16:colId xmlns:a16="http://schemas.microsoft.com/office/drawing/2014/main" val="3010772550"/>
                    </a:ext>
                  </a:extLst>
                </a:gridCol>
                <a:gridCol w="9607296">
                  <a:extLst>
                    <a:ext uri="{9D8B030D-6E8A-4147-A177-3AD203B41FA5}">
                      <a16:colId xmlns:a16="http://schemas.microsoft.com/office/drawing/2014/main" val="402725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useMfemMatrices</a:t>
                      </a:r>
                      <a:endParaRPr lang="bg-BG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Флаг; Ако е 1, се използват глобалните матрици от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mfem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bg-BG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975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Флаг; Ако е 1 и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useMfemMatrices</a:t>
                      </a:r>
                      <a:r>
                        <a:rPr lang="bg-BG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е 0, </a:t>
                      </a:r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генерира глобалните матрици и ги записва във файл. Ако е 1 и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useMfemMatrices</a:t>
                      </a:r>
                      <a:r>
                        <a:rPr lang="bg-BG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е 1, чете матрици от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mfem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bg-BG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конвертира ги и ги записва във файл.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35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mcm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Максимално лице на елемент на мрежата(използва се като идентификатор на изходните файлове)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74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Стъпка по времето в секунди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2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Tmax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Финално време на симулацията в секунди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32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sourceElement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Индекси на елементи, маркирани като източници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771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seismographIndices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Индекси на възли, действащи кат сеизмографи. Стойностите на отместването и скоростта в тях се записват на всяка стъпка от времето.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0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allNodes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Ако е &gt; 0, записваме в отделен файл цялото решение на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allNodes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 </a:t>
                      </a:r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еднакво отдалечени моменти от времето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89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cavityIndices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Индекси на елементи, които са част от някоя пукнатина.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6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modelProblem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Режим на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cavityFilling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Среда в пукнатините. Възможни стойности са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a(air) </a:t>
                      </a:r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w(water)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7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depths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Три височини - на долна и горна граница на изчислителната област и граница между двете среди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123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right</a:t>
                      </a:r>
                      <a:endParaRPr lang="bg-B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Лява и дясна граница на изчислителната област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290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64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50D2-FE98-DC75-C486-F4F621E7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27592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Режими на работа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F9A32-3914-6F45-EE5A-1E62D038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92" y="2200295"/>
            <a:ext cx="8584566" cy="32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8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682CD-FB57-A54B-4274-EF90E00D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bg-BG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 симулации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7AAA3-D8B0-1466-8786-56D4EAB80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928278" cy="3410712"/>
          </a:xfrm>
        </p:spPr>
        <p:txBody>
          <a:bodyPr anchor="t">
            <a:normAutofit/>
          </a:bodyPr>
          <a:lstStyle/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аналитични решения за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Симулации в ледник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 оценка на грешката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aph of a sound wave&#10;&#10;AI-generated content may be incorrect.">
            <a:extLst>
              <a:ext uri="{FF2B5EF4-FFF2-40B4-BE49-F238E27FC236}">
                <a16:creationId xmlns:a16="http://schemas.microsoft.com/office/drawing/2014/main" id="{5DA75F04-2C14-D27F-CA2C-9316A4AC6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49" y="3006292"/>
            <a:ext cx="5479715" cy="3287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8F31BE-B47B-1A3A-15D5-13F60BEF0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652" y="905374"/>
            <a:ext cx="2644386" cy="20000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AB4C96-C69D-CCD3-9EA3-7BC5D92D7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936" y="997531"/>
            <a:ext cx="2635303" cy="181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28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B0784-BC90-F242-60B5-4CC70FBB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6" y="0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аналитични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7C9ED6-F654-2434-B301-32F214DA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580" y="2059587"/>
            <a:ext cx="8210742" cy="4208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92EDC-E9AD-1C55-E436-369163909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32" y="1610401"/>
            <a:ext cx="3372080" cy="1754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22C774-0635-695B-9EAC-673D9D375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" y="4380031"/>
            <a:ext cx="3462634" cy="23781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49E9C5-8098-1484-43DA-690A2E086072}"/>
              </a:ext>
            </a:extLst>
          </p:cNvPr>
          <p:cNvSpPr txBox="1"/>
          <p:nvPr/>
        </p:nvSpPr>
        <p:spPr>
          <a:xfrm>
            <a:off x="4185951" y="1690255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Симулации в различни моменти от времето на аналитично решение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E3940-7D78-2D30-5DC2-143EDA620902}"/>
              </a:ext>
            </a:extLst>
          </p:cNvPr>
          <p:cNvSpPr txBox="1"/>
          <p:nvPr/>
        </p:nvSpPr>
        <p:spPr>
          <a:xfrm>
            <a:off x="386049" y="136234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Начални условия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D20F9-FDDA-566E-D782-0DA73029ACCC}"/>
              </a:ext>
            </a:extLst>
          </p:cNvPr>
          <p:cNvSpPr txBox="1"/>
          <p:nvPr/>
        </p:nvSpPr>
        <p:spPr>
          <a:xfrm>
            <a:off x="386049" y="4074091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Относителна грешка</a:t>
            </a:r>
          </a:p>
        </p:txBody>
      </p:sp>
    </p:spTree>
    <p:extLst>
      <p:ext uri="{BB962C8B-B14F-4D97-AF65-F5344CB8AC3E}">
        <p14:creationId xmlns:p14="http://schemas.microsoft.com/office/powerpoint/2010/main" val="75468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F56D7-E07E-0480-E3A2-8B2468081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1214360"/>
            <a:ext cx="7181850" cy="56436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BA6613-A387-B9DA-1075-64B4C5A7B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64" y="67894"/>
            <a:ext cx="4019983" cy="2341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FF9766-7AEE-B56F-5630-D57B087BF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48" y="2465506"/>
            <a:ext cx="3388614" cy="2398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32F142-A7B6-5E3E-B31B-716F9157D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12" y="4564566"/>
            <a:ext cx="3410307" cy="2341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49EFFE-52F7-BE42-8221-8CEB513A841E}"/>
                  </a:ext>
                </a:extLst>
              </p:cNvPr>
              <p:cNvSpPr txBox="1"/>
              <p:nvPr/>
            </p:nvSpPr>
            <p:spPr>
              <a:xfrm>
                <a:off x="7564582" y="845028"/>
                <a:ext cx="3106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dirty="0"/>
                  <a:t>Случай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=1, a=1</a:t>
                </a:r>
                <a:endParaRPr lang="bg-BG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49EFFE-52F7-BE42-8221-8CEB513A8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582" y="845028"/>
                <a:ext cx="3106466" cy="369332"/>
              </a:xfrm>
              <a:prstGeom prst="rect">
                <a:avLst/>
              </a:prstGeom>
              <a:blipFill>
                <a:blip r:embed="rId6"/>
                <a:stretch>
                  <a:fillRect l="-1765" t="-8333" b="-2833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914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7D78D-D43F-BBD6-EC3D-62A66C57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355" y="2409534"/>
            <a:ext cx="8697539" cy="41725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FA2383-A641-2424-64DD-A8071204A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64" y="67894"/>
            <a:ext cx="4019983" cy="2341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23A052-F754-B145-CE33-CC82CE69B680}"/>
                  </a:ext>
                </a:extLst>
              </p:cNvPr>
              <p:cNvSpPr txBox="1"/>
              <p:nvPr/>
            </p:nvSpPr>
            <p:spPr>
              <a:xfrm>
                <a:off x="8869680" y="2040202"/>
                <a:ext cx="3479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dirty="0"/>
                  <a:t>Случай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=0, a=1</a:t>
                </a:r>
                <a:endParaRPr lang="bg-BG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23A052-F754-B145-CE33-CC82CE69B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040202"/>
                <a:ext cx="3479339" cy="369332"/>
              </a:xfrm>
              <a:prstGeom prst="rect">
                <a:avLst/>
              </a:prstGeom>
              <a:blipFill>
                <a:blip r:embed="rId4"/>
                <a:stretch>
                  <a:fillRect l="-1401" t="-8333" b="-2833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983312F-6041-3D6B-DF83-4B479BADC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602" y="1"/>
            <a:ext cx="3411023" cy="249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70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9DDD-5363-4D2B-DDE8-1EB35039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582" y="0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Функцията източник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56EC1-63B0-BA5F-E312-8B9B7FCB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3412504" cy="37810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65FF34-4E7D-E724-C187-5EB763454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44" y="1443210"/>
            <a:ext cx="4950785" cy="3585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C1F3FE-0EB3-ECE6-FD0F-B930CAB14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008" y="4425610"/>
            <a:ext cx="4235216" cy="23186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1C1391-394C-CC69-1F15-EDD3FA67F8EC}"/>
              </a:ext>
            </a:extLst>
          </p:cNvPr>
          <p:cNvSpPr txBox="1"/>
          <p:nvPr/>
        </p:nvSpPr>
        <p:spPr>
          <a:xfrm>
            <a:off x="193986" y="1399717"/>
            <a:ext cx="384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Сеизмограма, генерирана с константен източник по времето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DFB21-B8D9-92E3-1AD3-05ED8385662B}"/>
              </a:ext>
            </a:extLst>
          </p:cNvPr>
          <p:cNvSpPr txBox="1"/>
          <p:nvPr/>
        </p:nvSpPr>
        <p:spPr>
          <a:xfrm>
            <a:off x="3203512" y="4240944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на Рикер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4BE32-AB94-1E06-85AE-289E3DA9B95C}"/>
              </a:ext>
            </a:extLst>
          </p:cNvPr>
          <p:cNvSpPr txBox="1"/>
          <p:nvPr/>
        </p:nvSpPr>
        <p:spPr>
          <a:xfrm>
            <a:off x="7092944" y="753386"/>
            <a:ext cx="4235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Синтетични сеизмограми, генерирани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FEM2D (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ляво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от статия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(дясно)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29C051-EA28-E5ED-1767-CE4A4B240F31}"/>
                  </a:ext>
                </a:extLst>
              </p:cNvPr>
              <p:cNvSpPr txBox="1"/>
              <p:nvPr/>
            </p:nvSpPr>
            <p:spPr>
              <a:xfrm>
                <a:off x="7351120" y="5471704"/>
                <a:ext cx="3250797" cy="1126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r(t) = (1−2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/>
                  <a:t>(t))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a(t) =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2∗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доминираща честота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29C051-EA28-E5ED-1767-CE4A4B240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120" y="5471704"/>
                <a:ext cx="3250797" cy="1126206"/>
              </a:xfrm>
              <a:prstGeom prst="rect">
                <a:avLst/>
              </a:prstGeom>
              <a:blipFill>
                <a:blip r:embed="rId5"/>
                <a:stretch>
                  <a:fillRect l="-1689" b="-380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25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525B-7C8F-65EB-657D-8AD5689B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EAD343-0129-4046-D742-81D603969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553316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18807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858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Параметри за лед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ρ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Линейно се мени между 300 и 900 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kg/m^3 </a:t>
                      </a:r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според дълбочината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92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/ 8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80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/ 4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4094"/>
                  </a:ext>
                </a:extLst>
              </a:tr>
            </a:tbl>
          </a:graphicData>
        </a:graphic>
      </p:graphicFrame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B7CEB493-FD6D-E581-F295-DEF20EE864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0337389"/>
              </p:ext>
            </p:extLst>
          </p:nvPr>
        </p:nvGraphicFramePr>
        <p:xfrm>
          <a:off x="838200" y="4337177"/>
          <a:ext cx="10515600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18807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858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Параметри за скала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ρ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kg/m^3</a:t>
                      </a:r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92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bg-BG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80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bg-B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849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D3E6-BD62-176C-E3EF-E9701D60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Избор на доминиращата честота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B206B-F17F-7E3F-416A-374A0693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3" y="2119545"/>
            <a:ext cx="4814768" cy="37104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EE83B6-E4DE-A445-A523-A75524974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579" y="2415560"/>
            <a:ext cx="4999058" cy="32354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78041A-B7F3-F0C3-559B-CAF2E287A345}"/>
              </a:ext>
            </a:extLst>
          </p:cNvPr>
          <p:cNvSpPr txBox="1"/>
          <p:nvPr/>
        </p:nvSpPr>
        <p:spPr>
          <a:xfrm>
            <a:off x="7600950" y="5650991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Сеизмограма от ледотресение</a:t>
            </a:r>
          </a:p>
        </p:txBody>
      </p:sp>
    </p:spTree>
    <p:extLst>
      <p:ext uri="{BB962C8B-B14F-4D97-AF65-F5344CB8AC3E}">
        <p14:creationId xmlns:p14="http://schemas.microsoft.com/office/powerpoint/2010/main" val="1107115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CC4E6-8E0E-DB33-7321-1CC1FBA8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342" y="337314"/>
            <a:ext cx="5453458" cy="37774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BD3901-1312-9A2E-B01E-ABB16E72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17" y="900494"/>
            <a:ext cx="5062142" cy="1325563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Избор на максимално лице на елемент и стъпка по времето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B014D-8493-34B6-585C-AEE3C74A5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7" y="4142611"/>
            <a:ext cx="8031454" cy="2504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27D5F1-C662-8445-C525-916636894610}"/>
              </a:ext>
            </a:extLst>
          </p:cNvPr>
          <p:cNvSpPr txBox="1"/>
          <p:nvPr/>
        </p:nvSpPr>
        <p:spPr>
          <a:xfrm>
            <a:off x="838200" y="3244334"/>
            <a:ext cx="40446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10*h&lt;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=77m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максималната значима честота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E24A2A-B30C-E97E-68E0-12377E3355B3}"/>
                  </a:ext>
                </a:extLst>
              </p:cNvPr>
              <p:cNvSpPr txBox="1"/>
              <p:nvPr/>
            </p:nvSpPr>
            <p:spPr>
              <a:xfrm>
                <a:off x="9201150" y="4114800"/>
                <a:ext cx="2610521" cy="600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τ&lt;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i="1" baseline="30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𝑣𝑆</m:t>
                            </m:r>
                            <m:r>
                              <a:rPr lang="en-US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=0.00032s</a:t>
                </a:r>
                <a:endParaRPr lang="bg-B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E24A2A-B30C-E97E-68E0-12377E335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50" y="4114800"/>
                <a:ext cx="2610521" cy="600934"/>
              </a:xfrm>
              <a:prstGeom prst="rect">
                <a:avLst/>
              </a:prstGeom>
              <a:blipFill>
                <a:blip r:embed="rId4"/>
                <a:stretch>
                  <a:fillRect l="-186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28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4D16-3A52-7BDD-A060-AEFD2EF8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536" y="235408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 експерименти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8B471-14E6-C061-B093-2D892C5C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808" b="4514"/>
          <a:stretch>
            <a:fillRect/>
          </a:stretch>
        </p:blipFill>
        <p:spPr>
          <a:xfrm>
            <a:off x="3347140" y="4859452"/>
            <a:ext cx="8219360" cy="198886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6996E7E-431C-5261-CC63-10CC08491094}"/>
              </a:ext>
            </a:extLst>
          </p:cNvPr>
          <p:cNvGrpSpPr/>
          <p:nvPr/>
        </p:nvGrpSpPr>
        <p:grpSpPr>
          <a:xfrm>
            <a:off x="161925" y="1690688"/>
            <a:ext cx="2925595" cy="4865126"/>
            <a:chOff x="161925" y="1690688"/>
            <a:chExt cx="2925595" cy="48651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E279E3-8CE0-E96C-60C3-F4CD97C94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" y="1690688"/>
              <a:ext cx="2925595" cy="486512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C2FD8B-5B99-AF91-711C-C7050C81FDD5}"/>
                </a:ext>
              </a:extLst>
            </p:cNvPr>
            <p:cNvSpPr txBox="1"/>
            <p:nvPr/>
          </p:nvSpPr>
          <p:spPr>
            <a:xfrm>
              <a:off x="1994916" y="5853883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BE2BA6E-6692-D436-136F-45EF180EBFD5}"/>
                </a:ext>
              </a:extLst>
            </p:cNvPr>
            <p:cNvSpPr txBox="1"/>
            <p:nvPr/>
          </p:nvSpPr>
          <p:spPr>
            <a:xfrm>
              <a:off x="2001773" y="3127167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74F05D-3D52-A921-2E13-3D430C5D8BE6}"/>
                </a:ext>
              </a:extLst>
            </p:cNvPr>
            <p:cNvSpPr txBox="1"/>
            <p:nvPr/>
          </p:nvSpPr>
          <p:spPr>
            <a:xfrm>
              <a:off x="2001012" y="2675781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3077C4-378D-569E-F758-E424FE7B8EE0}"/>
                </a:ext>
              </a:extLst>
            </p:cNvPr>
            <p:cNvSpPr txBox="1"/>
            <p:nvPr/>
          </p:nvSpPr>
          <p:spPr>
            <a:xfrm>
              <a:off x="2001773" y="2057592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548C3B-09FB-C5FC-E018-EF374BD5584E}"/>
                </a:ext>
              </a:extLst>
            </p:cNvPr>
            <p:cNvSpPr txBox="1"/>
            <p:nvPr/>
          </p:nvSpPr>
          <p:spPr>
            <a:xfrm>
              <a:off x="2001773" y="1749815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  <a:endParaRPr lang="bg-BG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45127CD-3B09-F09C-BFFC-2D786B60F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115"/>
          <a:stretch>
            <a:fillRect/>
          </a:stretch>
        </p:blipFill>
        <p:spPr>
          <a:xfrm>
            <a:off x="3347140" y="2223238"/>
            <a:ext cx="8219360" cy="19888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B047A6-8734-C911-CC09-CA5933EFE823}"/>
              </a:ext>
            </a:extLst>
          </p:cNvPr>
          <p:cNvSpPr txBox="1"/>
          <p:nvPr/>
        </p:nvSpPr>
        <p:spPr>
          <a:xfrm>
            <a:off x="4225864" y="188431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D986BF-66DB-48E9-EED0-8E306444CE37}"/>
              </a:ext>
            </a:extLst>
          </p:cNvPr>
          <p:cNvSpPr txBox="1"/>
          <p:nvPr/>
        </p:nvSpPr>
        <p:spPr>
          <a:xfrm>
            <a:off x="5827505" y="1903703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E03FD-FD15-F53E-6C1D-C5E63F3C49B3}"/>
              </a:ext>
            </a:extLst>
          </p:cNvPr>
          <p:cNvSpPr txBox="1"/>
          <p:nvPr/>
        </p:nvSpPr>
        <p:spPr>
          <a:xfrm>
            <a:off x="7401472" y="1893203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2D42D-C56F-090E-04D1-8D5238CAF462}"/>
              </a:ext>
            </a:extLst>
          </p:cNvPr>
          <p:cNvSpPr txBox="1"/>
          <p:nvPr/>
        </p:nvSpPr>
        <p:spPr>
          <a:xfrm>
            <a:off x="9030787" y="184214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D1C5C0-F3EC-78C6-21EC-851CD2E55A85}"/>
              </a:ext>
            </a:extLst>
          </p:cNvPr>
          <p:cNvSpPr txBox="1"/>
          <p:nvPr/>
        </p:nvSpPr>
        <p:spPr>
          <a:xfrm>
            <a:off x="10604754" y="184214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018D8-D6D8-8498-1360-316D2F3262D1}"/>
              </a:ext>
            </a:extLst>
          </p:cNvPr>
          <p:cNvSpPr txBox="1"/>
          <p:nvPr/>
        </p:nvSpPr>
        <p:spPr>
          <a:xfrm>
            <a:off x="3858768" y="1591412"/>
            <a:ext cx="5400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 без пукнатини в източник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EF663-1E09-5E5C-F43F-D27AC1FDAA60}"/>
              </a:ext>
            </a:extLst>
          </p:cNvPr>
          <p:cNvSpPr txBox="1"/>
          <p:nvPr/>
        </p:nvSpPr>
        <p:spPr>
          <a:xfrm>
            <a:off x="3687860" y="4505372"/>
            <a:ext cx="574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 с 1 пукнатина, пълна с въздух, и източник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61B5CC-2757-A4CC-C875-3321C49E80BE}"/>
              </a:ext>
            </a:extLst>
          </p:cNvPr>
          <p:cNvCxnSpPr>
            <a:cxnSpLocks/>
          </p:cNvCxnSpPr>
          <p:nvPr/>
        </p:nvCxnSpPr>
        <p:spPr>
          <a:xfrm>
            <a:off x="3520174" y="4331636"/>
            <a:ext cx="81658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Модел на сеизмограф">
            <a:extLst>
              <a:ext uri="{FF2B5EF4-FFF2-40B4-BE49-F238E27FC236}">
                <a16:creationId xmlns:a16="http://schemas.microsoft.com/office/drawing/2014/main" id="{6D4DE256-CC17-8D82-B28A-29CA208F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6167" y1="30667" x2="36167" y2="30667"/>
                        <a14:foregroundMark x1="35083" y1="34250" x2="35083" y2="34250"/>
                        <a14:foregroundMark x1="35917" y1="37167" x2="35917" y2="37167"/>
                        <a14:foregroundMark x1="37417" y1="35167" x2="37417" y2="35167"/>
                        <a14:foregroundMark x1="35083" y1="29500" x2="35083" y2="29500"/>
                        <a14:foregroundMark x1="34583" y1="31833" x2="34583" y2="31833"/>
                        <a14:foregroundMark x1="36833" y1="41583" x2="36833" y2="41583"/>
                        <a14:foregroundMark x1="37083" y1="39833" x2="37083" y2="39833"/>
                        <a14:foregroundMark x1="37083" y1="40833" x2="37083" y2="40833"/>
                        <a14:foregroundMark x1="40333" y1="56667" x2="40333" y2="56667"/>
                        <a14:foregroundMark x1="45750" y1="56000" x2="45750" y2="5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81" y="1408129"/>
            <a:ext cx="435402" cy="43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709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4F0B5-166A-CD66-60B1-9C99CD4C9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23" t="44562" r="4830" b="6967"/>
          <a:stretch>
            <a:fillRect/>
          </a:stretch>
        </p:blipFill>
        <p:spPr>
          <a:xfrm>
            <a:off x="5564222" y="3945398"/>
            <a:ext cx="6627778" cy="281418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58FE274-2A21-0482-09E9-9E827E6111CB}"/>
              </a:ext>
            </a:extLst>
          </p:cNvPr>
          <p:cNvGrpSpPr/>
          <p:nvPr/>
        </p:nvGrpSpPr>
        <p:grpSpPr>
          <a:xfrm>
            <a:off x="0" y="1030821"/>
            <a:ext cx="3122313" cy="5175070"/>
            <a:chOff x="161925" y="1690688"/>
            <a:chExt cx="2925595" cy="48651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007C87-ED2B-C258-7C98-7A43A7000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" y="1690688"/>
              <a:ext cx="2925595" cy="48651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8C4EE7-16FF-112D-8985-6532774BFF14}"/>
                </a:ext>
              </a:extLst>
            </p:cNvPr>
            <p:cNvSpPr txBox="1"/>
            <p:nvPr/>
          </p:nvSpPr>
          <p:spPr>
            <a:xfrm>
              <a:off x="1994916" y="5853883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6EBBC7-4C4A-DF50-6BDD-AAC54FB5CCD2}"/>
                </a:ext>
              </a:extLst>
            </p:cNvPr>
            <p:cNvSpPr txBox="1"/>
            <p:nvPr/>
          </p:nvSpPr>
          <p:spPr>
            <a:xfrm>
              <a:off x="2001773" y="3127167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FC57F6-651F-CC0F-758D-91243E9B158E}"/>
                </a:ext>
              </a:extLst>
            </p:cNvPr>
            <p:cNvSpPr txBox="1"/>
            <p:nvPr/>
          </p:nvSpPr>
          <p:spPr>
            <a:xfrm>
              <a:off x="2001012" y="2675781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F605CB-0BD6-B933-43F0-2F244939FA76}"/>
                </a:ext>
              </a:extLst>
            </p:cNvPr>
            <p:cNvSpPr txBox="1"/>
            <p:nvPr/>
          </p:nvSpPr>
          <p:spPr>
            <a:xfrm>
              <a:off x="2001773" y="2057592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  <a:endParaRPr lang="bg-BG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CB2B8A-D5AA-B438-78BF-E2C20245084B}"/>
                </a:ext>
              </a:extLst>
            </p:cNvPr>
            <p:cNvSpPr txBox="1"/>
            <p:nvPr/>
          </p:nvSpPr>
          <p:spPr>
            <a:xfrm>
              <a:off x="2001773" y="1749815"/>
              <a:ext cx="228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  <a:endParaRPr lang="bg-BG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83B1759-DFC7-D88C-1871-C670B092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30" b="59738"/>
          <a:stretch>
            <a:fillRect/>
          </a:stretch>
        </p:blipFill>
        <p:spPr>
          <a:xfrm>
            <a:off x="3122313" y="816701"/>
            <a:ext cx="9069687" cy="2337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9C0F2D-B116-B134-767D-669A58F61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4562" r="75976" b="4447"/>
          <a:stretch>
            <a:fillRect/>
          </a:stretch>
        </p:blipFill>
        <p:spPr>
          <a:xfrm>
            <a:off x="3197287" y="3760732"/>
            <a:ext cx="2366935" cy="30605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A0AC95-10C1-B2A0-EDED-DDE45D5CE452}"/>
              </a:ext>
            </a:extLst>
          </p:cNvPr>
          <p:cNvSpPr txBox="1"/>
          <p:nvPr/>
        </p:nvSpPr>
        <p:spPr>
          <a:xfrm>
            <a:off x="4107010" y="642071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37204-8B99-FC48-4BD0-598E0AB9C340}"/>
              </a:ext>
            </a:extLst>
          </p:cNvPr>
          <p:cNvSpPr txBox="1"/>
          <p:nvPr/>
        </p:nvSpPr>
        <p:spPr>
          <a:xfrm>
            <a:off x="5730228" y="594145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D44D7-FF76-A4E8-9A18-CF894507B97D}"/>
              </a:ext>
            </a:extLst>
          </p:cNvPr>
          <p:cNvSpPr txBox="1"/>
          <p:nvPr/>
        </p:nvSpPr>
        <p:spPr>
          <a:xfrm>
            <a:off x="7588143" y="63008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5FC0D-7A47-30DB-2F1D-F2D64137C72C}"/>
              </a:ext>
            </a:extLst>
          </p:cNvPr>
          <p:cNvSpPr txBox="1"/>
          <p:nvPr/>
        </p:nvSpPr>
        <p:spPr>
          <a:xfrm>
            <a:off x="9396074" y="63008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39EA1-C00C-129C-EE37-9C7AA7EE2975}"/>
              </a:ext>
            </a:extLst>
          </p:cNvPr>
          <p:cNvSpPr txBox="1"/>
          <p:nvPr/>
        </p:nvSpPr>
        <p:spPr>
          <a:xfrm>
            <a:off x="11204005" y="63008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6078FE-523A-2CFC-ACE8-FE5F7759151D}"/>
              </a:ext>
            </a:extLst>
          </p:cNvPr>
          <p:cNvSpPr txBox="1"/>
          <p:nvPr/>
        </p:nvSpPr>
        <p:spPr>
          <a:xfrm>
            <a:off x="4107010" y="28164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 с 1 пукнатина, пълна с вода, и източник </a:t>
            </a:r>
            <a:r>
              <a:rPr 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B42E32-056B-B569-D1E1-6A67F3D622C2}"/>
              </a:ext>
            </a:extLst>
          </p:cNvPr>
          <p:cNvSpPr txBox="1"/>
          <p:nvPr/>
        </p:nvSpPr>
        <p:spPr>
          <a:xfrm>
            <a:off x="4335610" y="3576066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216E35-54C9-E660-4807-F16AE8145A22}"/>
              </a:ext>
            </a:extLst>
          </p:cNvPr>
          <p:cNvSpPr/>
          <p:nvPr/>
        </p:nvSpPr>
        <p:spPr>
          <a:xfrm>
            <a:off x="6617692" y="3613093"/>
            <a:ext cx="206936" cy="1900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D00BE04-C57F-B412-7A32-E10EFB0702C7}"/>
              </a:ext>
            </a:extLst>
          </p:cNvPr>
          <p:cNvSpPr/>
          <p:nvPr/>
        </p:nvSpPr>
        <p:spPr>
          <a:xfrm>
            <a:off x="8878110" y="3635020"/>
            <a:ext cx="228600" cy="19665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EDE2F45-24FE-FC27-7C32-CC6401062B80}"/>
              </a:ext>
            </a:extLst>
          </p:cNvPr>
          <p:cNvSpPr/>
          <p:nvPr/>
        </p:nvSpPr>
        <p:spPr>
          <a:xfrm>
            <a:off x="11204005" y="3609782"/>
            <a:ext cx="228600" cy="19665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1897A1-7B9D-9E7D-1C6F-76F436CA1078}"/>
              </a:ext>
            </a:extLst>
          </p:cNvPr>
          <p:cNvCxnSpPr/>
          <p:nvPr/>
        </p:nvCxnSpPr>
        <p:spPr>
          <a:xfrm>
            <a:off x="3364992" y="3217949"/>
            <a:ext cx="87142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DAB9E6E-2779-84C9-C6D4-FBD7FE025879}"/>
              </a:ext>
            </a:extLst>
          </p:cNvPr>
          <p:cNvSpPr txBox="1"/>
          <p:nvPr/>
        </p:nvSpPr>
        <p:spPr>
          <a:xfrm>
            <a:off x="3429001" y="3311391"/>
            <a:ext cx="851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 с 2 пукнатини – първите 3 са пълни с въздух, а четвъртата - с вода</a:t>
            </a:r>
            <a:endParaRPr lang="bg-BG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Модел на сеизмограф">
            <a:extLst>
              <a:ext uri="{FF2B5EF4-FFF2-40B4-BE49-F238E27FC236}">
                <a16:creationId xmlns:a16="http://schemas.microsoft.com/office/drawing/2014/main" id="{C0499BF2-9424-54A5-41E7-86859F79F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6167" y1="30667" x2="36167" y2="30667"/>
                        <a14:foregroundMark x1="35083" y1="34250" x2="35083" y2="34250"/>
                        <a14:foregroundMark x1="35917" y1="37167" x2="35917" y2="37167"/>
                        <a14:foregroundMark x1="37417" y1="35167" x2="37417" y2="35167"/>
                        <a14:foregroundMark x1="35083" y1="29500" x2="35083" y2="29500"/>
                        <a14:foregroundMark x1="34583" y1="31833" x2="34583" y2="31833"/>
                        <a14:foregroundMark x1="36833" y1="41583" x2="36833" y2="41583"/>
                        <a14:foregroundMark x1="37083" y1="39833" x2="37083" y2="39833"/>
                        <a14:foregroundMark x1="37083" y1="40833" x2="37083" y2="40833"/>
                        <a14:foregroundMark x1="40333" y1="56667" x2="40333" y2="56667"/>
                        <a14:foregroundMark x1="45750" y1="56000" x2="45750" y2="5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63" y="778811"/>
            <a:ext cx="435402" cy="43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364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207996-370D-7E32-500D-370EB98FD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16" y="2221591"/>
            <a:ext cx="4681788" cy="3030091"/>
          </a:xfrm>
          <a:prstGeom prst="rect">
            <a:avLst/>
          </a:prstGeom>
        </p:spPr>
      </p:pic>
      <p:pic>
        <p:nvPicPr>
          <p:cNvPr id="3" name="Picture 4" descr="seismology - Why reflection and refraction of seismic P-wave generate  S-waves? - Earth Science Stack Exchange">
            <a:extLst>
              <a:ext uri="{FF2B5EF4-FFF2-40B4-BE49-F238E27FC236}">
                <a16:creationId xmlns:a16="http://schemas.microsoft.com/office/drawing/2014/main" id="{32E0C3B2-E328-BFCC-2490-D7011C04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08" y="2158886"/>
            <a:ext cx="3546189" cy="309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E4D00-FA1A-79DB-90B3-353F6F2B1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659" y="2048802"/>
            <a:ext cx="2753769" cy="3202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97BAE-8CE1-916D-B3EC-B048CD1D563C}"/>
              </a:ext>
            </a:extLst>
          </p:cNvPr>
          <p:cNvSpPr txBox="1"/>
          <p:nvPr/>
        </p:nvSpPr>
        <p:spPr>
          <a:xfrm>
            <a:off x="318308" y="1834996"/>
            <a:ext cx="2886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на Снелиус</a:t>
            </a:r>
          </a:p>
        </p:txBody>
      </p:sp>
    </p:spTree>
    <p:extLst>
      <p:ext uri="{BB962C8B-B14F-4D97-AF65-F5344CB8AC3E}">
        <p14:creationId xmlns:p14="http://schemas.microsoft.com/office/powerpoint/2010/main" val="1618439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DA77-940C-0947-ACC4-BB875504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084" y="-173078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 оценка на грешката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B7718-6BB2-96F8-DA88-1DF5E3FB4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944"/>
            <a:ext cx="12192000" cy="300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64C93C-9D6E-AEED-4C50-30C204C7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96" y="3831020"/>
            <a:ext cx="12192000" cy="302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58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AC10-8F31-1254-370B-C9F6115ED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Бъдеща разработка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2A7A76-575F-8074-40F9-31E51D5E7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848528"/>
              </p:ext>
            </p:extLst>
          </p:nvPr>
        </p:nvGraphicFramePr>
        <p:xfrm>
          <a:off x="628636" y="2077950"/>
          <a:ext cx="5397260" cy="417654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397260">
                  <a:extLst>
                    <a:ext uri="{9D8B030D-6E8A-4147-A177-3AD203B41FA5}">
                      <a16:colId xmlns:a16="http://schemas.microsoft.com/office/drawing/2014/main" val="1503492822"/>
                    </a:ext>
                  </a:extLst>
                </a:gridCol>
              </a:tblGrid>
              <a:tr h="495752">
                <a:tc>
                  <a:txBody>
                    <a:bodyPr/>
                    <a:lstStyle/>
                    <a:p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Преминаване към 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</a:t>
                      </a:r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550418"/>
                  </a:ext>
                </a:extLst>
              </a:tr>
              <a:tr h="495752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Паралелизация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50276"/>
                  </a:ext>
                </a:extLst>
              </a:tr>
              <a:tr h="855682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Използване на базисни функции от по-висок ред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359"/>
                  </a:ext>
                </a:extLst>
              </a:tr>
              <a:tr h="495752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Алтернативни числени методи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598415"/>
                  </a:ext>
                </a:extLst>
              </a:tr>
              <a:tr h="855682">
                <a:tc>
                  <a:txBody>
                    <a:bodyPr/>
                    <a:lstStyle/>
                    <a:p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Подобрени на времевата дискретизация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70326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Подобрения на конфигурацията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64976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Комбиниране с невронна мрежа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2582"/>
                  </a:ext>
                </a:extLst>
              </a:tr>
            </a:tbl>
          </a:graphicData>
        </a:graphic>
      </p:graphicFrame>
      <p:pic>
        <p:nvPicPr>
          <p:cNvPr id="1034" name="Picture 10">
            <a:extLst>
              <a:ext uri="{FF2B5EF4-FFF2-40B4-BE49-F238E27FC236}">
                <a16:creationId xmlns:a16="http://schemas.microsoft.com/office/drawing/2014/main" id="{0ADAD2C9-56C5-CA9D-9AFB-6A0B033B9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304" y="2606040"/>
            <a:ext cx="5725730" cy="312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131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BA5EA-996D-E862-1F9D-17CCE88E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bg-BG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Благодря Ви за вниманието!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CE62BAE-7BDA-AAEC-2BCE-67CD59B26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15505"/>
            <a:ext cx="10512547" cy="431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468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E40D-BED5-7569-C6DA-F20D172B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числото на обусловеност влияе на директния метод?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3ECB3-4D98-7D5D-CC1F-46051DC53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5"/>
          <a:stretch>
            <a:fillRect/>
          </a:stretch>
        </p:blipFill>
        <p:spPr>
          <a:xfrm>
            <a:off x="0" y="2945684"/>
            <a:ext cx="5343525" cy="28359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A1A83-2CD6-D799-4466-5F151E31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22"/>
          <a:stretch>
            <a:fillRect/>
          </a:stretch>
        </p:blipFill>
        <p:spPr>
          <a:xfrm>
            <a:off x="5419399" y="2938642"/>
            <a:ext cx="5343525" cy="2843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F498A-2D1A-0B82-AB09-012FD156DB20}"/>
              </a:ext>
            </a:extLst>
          </p:cNvPr>
          <p:cNvSpPr txBox="1"/>
          <p:nvPr/>
        </p:nvSpPr>
        <p:spPr>
          <a:xfrm>
            <a:off x="4752649" y="5781675"/>
            <a:ext cx="66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2.5sec</a:t>
            </a:r>
            <a:endParaRPr lang="bg-B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3B566-1937-D229-7472-E6CBD4C46341}"/>
              </a:ext>
            </a:extLst>
          </p:cNvPr>
          <p:cNvSpPr txBox="1"/>
          <p:nvPr/>
        </p:nvSpPr>
        <p:spPr>
          <a:xfrm>
            <a:off x="10096174" y="5781675"/>
            <a:ext cx="66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2.5sec</a:t>
            </a:r>
            <a:endParaRPr lang="bg-B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C1F32-7989-5DD6-3289-9D2ACC8CFC44}"/>
              </a:ext>
            </a:extLst>
          </p:cNvPr>
          <p:cNvSpPr txBox="1"/>
          <p:nvPr/>
        </p:nvSpPr>
        <p:spPr>
          <a:xfrm>
            <a:off x="838200" y="21717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Абсолютни грешки от директния метод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353FD-1DD6-67DE-293B-098341039E26}"/>
              </a:ext>
            </a:extLst>
          </p:cNvPr>
          <p:cNvSpPr txBox="1"/>
          <p:nvPr/>
        </p:nvSpPr>
        <p:spPr>
          <a:xfrm>
            <a:off x="5555961" y="1894701"/>
            <a:ext cx="6238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Абсолютна разлика в решенията при добавяне на равномерно разпределена величина в инт.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[-10^(-9), 10^(-9)]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към дясната страна на всяка стъпка от времето</a:t>
            </a:r>
          </a:p>
        </p:txBody>
      </p:sp>
    </p:spTree>
    <p:extLst>
      <p:ext uri="{BB962C8B-B14F-4D97-AF65-F5344CB8AC3E}">
        <p14:creationId xmlns:p14="http://schemas.microsoft.com/office/powerpoint/2010/main" val="1634487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1DD8-B9E2-0DF4-BF3A-6F965D8E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 от рецензията – сравнение със статия за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SPECFEM3D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4FE18-8D0E-A318-7878-2DA5B390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17" y="1528159"/>
            <a:ext cx="2989781" cy="2063370"/>
          </a:xfrm>
          <a:prstGeom prst="rect">
            <a:avLst/>
          </a:prstGeom>
        </p:spPr>
      </p:pic>
      <p:pic>
        <p:nvPicPr>
          <p:cNvPr id="6" name="Picture 5" descr="A screenshot of a computer screen">
            <a:extLst>
              <a:ext uri="{FF2B5EF4-FFF2-40B4-BE49-F238E27FC236}">
                <a16:creationId xmlns:a16="http://schemas.microsoft.com/office/drawing/2014/main" id="{BA830E43-6238-8C1B-ECCB-61168B384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84" y="3429000"/>
            <a:ext cx="4530248" cy="3257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E9CF85-08D5-50A4-35BE-49518CBB6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70" y="1785938"/>
            <a:ext cx="6128613" cy="480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97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F50F5-8C98-E3E1-8F06-BCDF9AA3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D40C-A80F-5958-303F-AB1356E3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Избор на доминиращата честота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FE430-3270-8986-ADC7-6E612189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3" y="2119545"/>
            <a:ext cx="4814768" cy="37104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BC597-B4B7-5349-1C3B-80A80D3C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579" y="2415560"/>
            <a:ext cx="4999058" cy="32354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71878A-1D92-57E7-AE5E-59C55DBB5E7D}"/>
              </a:ext>
            </a:extLst>
          </p:cNvPr>
          <p:cNvSpPr txBox="1"/>
          <p:nvPr/>
        </p:nvSpPr>
        <p:spPr>
          <a:xfrm>
            <a:off x="7600950" y="5650991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Сеизмограма от ледотресение</a:t>
            </a:r>
          </a:p>
        </p:txBody>
      </p:sp>
    </p:spTree>
    <p:extLst>
      <p:ext uri="{BB962C8B-B14F-4D97-AF65-F5344CB8AC3E}">
        <p14:creationId xmlns:p14="http://schemas.microsoft.com/office/powerpoint/2010/main" val="1062328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62DE-C2E7-A9CC-8E6B-9194AF28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 оценка на грешката за региона, описващ ледник Балкан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6430A-7A28-49D8-645E-502A593C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" y="2543634"/>
            <a:ext cx="2881503" cy="3399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3D2483-6995-F425-84FE-076672E6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95" y="2543634"/>
            <a:ext cx="2929630" cy="3399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D35C71-78F4-508F-E18C-5A618B6D7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225" y="2543634"/>
            <a:ext cx="2881503" cy="3385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869126-C0C0-4EBE-7992-2ECE48D89639}"/>
              </a:ext>
            </a:extLst>
          </p:cNvPr>
          <p:cNvSpPr txBox="1"/>
          <p:nvPr/>
        </p:nvSpPr>
        <p:spPr>
          <a:xfrm>
            <a:off x="9368728" y="2386584"/>
            <a:ext cx="275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 намерен ред на сходимост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p=2.097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27F0F0-CEB2-7528-A97C-4A93F8B4846C}"/>
              </a:ext>
            </a:extLst>
          </p:cNvPr>
          <p:cNvSpPr txBox="1"/>
          <p:nvPr/>
        </p:nvSpPr>
        <p:spPr>
          <a:xfrm>
            <a:off x="2699834" y="5943225"/>
            <a:ext cx="464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Сеизмограми, получени с всяка от мрежите</a:t>
            </a:r>
          </a:p>
        </p:txBody>
      </p:sp>
    </p:spTree>
    <p:extLst>
      <p:ext uri="{BB962C8B-B14F-4D97-AF65-F5344CB8AC3E}">
        <p14:creationId xmlns:p14="http://schemas.microsoft.com/office/powerpoint/2010/main" val="2995420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50A5-07FB-E66E-7B64-AB2C9DB9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 оценка на грешката с нереалистични параметри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FA8ED-3F85-7924-868B-2FCEEBC4F428}"/>
                  </a:ext>
                </a:extLst>
              </p:cNvPr>
              <p:cNvSpPr txBox="1"/>
              <p:nvPr/>
            </p:nvSpPr>
            <p:spPr>
              <a:xfrm>
                <a:off x="216783" y="2788920"/>
                <a:ext cx="326288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 ребра за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леда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/f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/25=280</a:t>
                </a:r>
              </a:p>
              <a:p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Тоест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7000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m/s</a:t>
                </a:r>
              </a:p>
              <a:p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Избираме 16 пъти по-високи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 да нарастнат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четворно</a:t>
                </a:r>
              </a:p>
              <a:p>
                <a:endParaRPr lang="bg-B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Сега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τ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/…=0.00002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Избираме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τ</m:t>
                    </m:r>
                    <m:r>
                      <a:rPr lang="el-GR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=0.00001s=10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bg-B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FA8ED-3F85-7924-868B-2FCEEBC4F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83" y="2788920"/>
                <a:ext cx="3262884" cy="2862322"/>
              </a:xfrm>
              <a:prstGeom prst="rect">
                <a:avLst/>
              </a:prstGeom>
              <a:blipFill>
                <a:blip r:embed="rId2"/>
                <a:stretch>
                  <a:fillRect l="-1682" t="-1279" b="-234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73A6163-637A-398F-401A-AAF9B3CF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226" y="2788920"/>
            <a:ext cx="2708474" cy="2829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2DA6B2-0F73-C068-5549-E8EA090C3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10" y="2788920"/>
            <a:ext cx="2552016" cy="2829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59092A-7A59-8664-B071-D6B2CA5BE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863" y="2788920"/>
            <a:ext cx="2462254" cy="28292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BACD7F-EC0A-5839-3817-ED16EA79B21B}"/>
              </a:ext>
            </a:extLst>
          </p:cNvPr>
          <p:cNvSpPr txBox="1"/>
          <p:nvPr/>
        </p:nvSpPr>
        <p:spPr>
          <a:xfrm>
            <a:off x="4651075" y="5618218"/>
            <a:ext cx="464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Сеизмограми, получени с всяка от мрежите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280CA2-CCEF-61FA-6D73-BC44973FF23D}"/>
              </a:ext>
            </a:extLst>
          </p:cNvPr>
          <p:cNvSpPr txBox="1"/>
          <p:nvPr/>
        </p:nvSpPr>
        <p:spPr>
          <a:xfrm>
            <a:off x="6985472" y="2086213"/>
            <a:ext cx="363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 ред на сходимост: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1.49</a:t>
            </a:r>
          </a:p>
        </p:txBody>
      </p:sp>
    </p:spTree>
    <p:extLst>
      <p:ext uri="{BB962C8B-B14F-4D97-AF65-F5344CB8AC3E}">
        <p14:creationId xmlns:p14="http://schemas.microsoft.com/office/powerpoint/2010/main" val="3746796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508D-14D5-8C39-8897-1DAA54F2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Всички коментари и забележки от рецензията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D7386-A0C6-81D8-15AB-676084DA9A1C}"/>
              </a:ext>
            </a:extLst>
          </p:cNvPr>
          <p:cNvSpPr txBox="1"/>
          <p:nvPr/>
        </p:nvSpPr>
        <p:spPr>
          <a:xfrm>
            <a:off x="704088" y="2249424"/>
            <a:ext cx="4974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Забележки: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Разграничаване на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Грешно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Плътността на леда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Аналитично решение при тесен пик на НУ</a:t>
            </a:r>
          </a:p>
          <a:p>
            <a:pPr marL="342900" indent="-342900">
              <a:buFont typeface="+mj-lt"/>
              <a:buAutoNum type="arabicPeriod"/>
            </a:pP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B6F37-E0E8-DDAC-E9DF-3330B5B9E6C6}"/>
              </a:ext>
            </a:extLst>
          </p:cNvPr>
          <p:cNvSpPr txBox="1"/>
          <p:nvPr/>
        </p:nvSpPr>
        <p:spPr>
          <a:xfrm>
            <a:off x="6096000" y="2139696"/>
            <a:ext cx="49743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Въпроси: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 на задачата</a:t>
            </a:r>
          </a:p>
          <a:p>
            <a:pPr marL="342900" indent="-342900">
              <a:buFont typeface="+mj-lt"/>
              <a:buAutoNum type="arabicPeriod"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извеждания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 на обусловеност как влияе на директния метод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Нестабилност на матрицата какво значи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Областите в секции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3.5.1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3.5.2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със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SPECFEM3D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Избор на доминираща честота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Изводи от сеизмограмите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 на сеизмограмите</a:t>
            </a:r>
          </a:p>
          <a:p>
            <a:pPr marL="342900" indent="-342900">
              <a:buFont typeface="+mj-lt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 Рунге за реалната постановка</a:t>
            </a:r>
          </a:p>
        </p:txBody>
      </p:sp>
    </p:spTree>
    <p:extLst>
      <p:ext uri="{BB962C8B-B14F-4D97-AF65-F5344CB8AC3E}">
        <p14:creationId xmlns:p14="http://schemas.microsoft.com/office/powerpoint/2010/main" val="283477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7938</TotalTime>
  <Words>1044</Words>
  <Application>Microsoft Office PowerPoint</Application>
  <PresentationFormat>Widescreen</PresentationFormat>
  <Paragraphs>208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Times New Roman</vt:lpstr>
      <vt:lpstr>Office Theme</vt:lpstr>
      <vt:lpstr>Числени симулации на сеизмични вълни в ледници</vt:lpstr>
      <vt:lpstr>Българската антарктическа база</vt:lpstr>
      <vt:lpstr>PowerPoint Presentation</vt:lpstr>
      <vt:lpstr>PowerPoint Presentation</vt:lpstr>
      <vt:lpstr>PowerPoint Presentation</vt:lpstr>
      <vt:lpstr>Уравнения на еластодинамиката</vt:lpstr>
      <vt:lpstr>Дискретизация на уравненията</vt:lpstr>
      <vt:lpstr>Област, в която решаваме задачата</vt:lpstr>
      <vt:lpstr>FEM2D</vt:lpstr>
      <vt:lpstr>Използвани технологии</vt:lpstr>
      <vt:lpstr>FEM2D конфигурационен файл</vt:lpstr>
      <vt:lpstr>Режими на работа</vt:lpstr>
      <vt:lpstr>Проведени симулации</vt:lpstr>
      <vt:lpstr>Сравнение с аналитични решения</vt:lpstr>
      <vt:lpstr>PowerPoint Presentation</vt:lpstr>
      <vt:lpstr>PowerPoint Presentation</vt:lpstr>
      <vt:lpstr>Функцията източник</vt:lpstr>
      <vt:lpstr>Параметри</vt:lpstr>
      <vt:lpstr>Избор на доминиращата честота</vt:lpstr>
      <vt:lpstr>Избор на максимално лице на елемент и стъпка по времето</vt:lpstr>
      <vt:lpstr>Проведени експерименти</vt:lpstr>
      <vt:lpstr>PowerPoint Presentation</vt:lpstr>
      <vt:lpstr>PowerPoint Presentation</vt:lpstr>
      <vt:lpstr>Практическа оценка на грешката</vt:lpstr>
      <vt:lpstr>Бъдеща разработка</vt:lpstr>
      <vt:lpstr>Благодря Ви за вниманието!</vt:lpstr>
      <vt:lpstr>Как числото на обусловеност влияе на директния метод?</vt:lpstr>
      <vt:lpstr>Въпроси от рецензията – сравнение със статия за SPECFEM3D</vt:lpstr>
      <vt:lpstr>Избор на доминиращата честота</vt:lpstr>
      <vt:lpstr>Практическа оценка на грешката за региона, описващ ледник Балкан</vt:lpstr>
      <vt:lpstr>Практическа оценка на грешката с нереалистични параметри</vt:lpstr>
      <vt:lpstr>Всички коментари и забележки от рецензията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Todorov</dc:creator>
  <cp:lastModifiedBy>Petar Todorov</cp:lastModifiedBy>
  <cp:revision>136</cp:revision>
  <dcterms:created xsi:type="dcterms:W3CDTF">2025-11-14T09:29:24Z</dcterms:created>
  <dcterms:modified xsi:type="dcterms:W3CDTF">2025-11-26T09:52:17Z</dcterms:modified>
</cp:coreProperties>
</file>